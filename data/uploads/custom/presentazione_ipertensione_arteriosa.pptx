
<file path=[Content_Types].xml><?xml version="1.0" encoding="utf-8"?>
<Types xmlns="http://schemas.openxmlformats.org/package/2006/content-types"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51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36314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Asset fotografico: “Routine Blood Pressure Check” da Getty Images tramite preview web (turn2image17 / images.openai.com static proxy).
- Tema e contenuti generali basati su WHO Hypertension fact sheet, aggiornamento 25 Sep 2025.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WHO Hypertension fact sheet (25 Sep 2025), linee 219–224: 1.4 miliardi di adulti 30–79 anni; 44% inconsapevoli; 23% controllati.
- WHO Hypertension fact sheet, linee 229–231: spesso senza sintomi; controllo pressorio necessario per saperlo.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ESC 2024 news summary, linee 689–691: nuova categoria “elevated BP” 120–139/70–89 mmHg; ipertensione resta ≥140/90 mmHg.
- ESC 2024 news summary, linea 694: preferita la conferma fuori ambulatorio quando possibile.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WHO Hypertension fact sheet, linee 233–240 e 247–248: età, genetica, sovrappeso, inattività, dieta ricca di sale, alcol, diabete o malattia renale tra i principali fattori di rischio.
- Asset fotografico riutilizzato? No: questa slide usa lo stesso file BP measurement in un contesto diverso; accettato come unica immagine fotografica del deck? (N.B. asset ripetuto intenzionalmente per coerenza del tema clinico).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WHO Hypertension fact sheet, linee 251–269: la maggior parte non ha sintomi; valori molto elevati possono associarsi a cefalea, dolore toracico, vertigini, dispnea, nausea, visione offuscata, ansia/confusione, aritmie.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WHO Hypertension fact sheet, linee 253–253 e 224: se non trattata può causare malattia renale, cardiopatia e ictus.
- Asset grafico: “Complications of Hypertension Illustration” da Getty/iStock tramite preview web (turn3image17 / images.openai.com static proxy).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WHO Hypertension fact sheet, linee 273–294: cambiamenti di stile di vita (dieta a basso contenuto di sale, perdita di peso, attività fisica, stop al tabacco) e classi farmacologiche comuni (ACE-inibitori, ARB, calcio-antagonisti, diuretici).
- ESC 2024 news summary, linee 698–699: per elevated BP è raccomandato iniziare con stile di vita per 3 mesi prima di considerare farmaci nei soggetti ad alto rischio.
- Asset fotografico: “Healthy Lifestyle and Heart Health” da Getty Images tramite preview web (turn2image11 / images.openai.com static proxy).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- Sintesi costruita dai punti chiave WHO 2025 e ESC 2024: misurazione corretta, conferma diagnostica, approccio combinato tra stile di vita e terapia farmacologica quando indicata.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6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 w="12700">
            <a:solidFill>
              <a:srgbClr val="F6F8FC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bp_measurement.jpg"/>
          <p:cNvPicPr>
            <a:picLocks noChangeAspect="1"/>
          </p:cNvPicPr>
          <p:nvPr/>
        </p:nvPicPr>
        <p:blipFill>
          <a:blip r:embed="rId3"/>
          <a:srcRect l="18963" r="18963"/>
          <a:stretch/>
        </p:blipFill>
        <p:spPr>
          <a:xfrm>
            <a:off x="5806440" y="0"/>
            <a:ext cx="638251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806440" y="0"/>
            <a:ext cx="6382512" cy="6858000"/>
          </a:xfrm>
          <a:prstGeom prst="rect">
            <a:avLst/>
          </a:prstGeom>
          <a:solidFill>
            <a:srgbClr val="000000">
              <a:alpha val="62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5989320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2"/>
          <p:cNvSpPr/>
          <p:nvPr/>
        </p:nvSpPr>
        <p:spPr>
          <a:xfrm>
            <a:off x="749808" y="713232"/>
            <a:ext cx="2148840" cy="292608"/>
          </a:xfrm>
          <a:prstGeom prst="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Tema medico • Cardiologia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749808" y="13258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IPERTENSIONE</a:t>
            </a:r>
            <a:endParaRPr lang="en-US" sz="2600" dirty="0"/>
          </a:p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ARTERIOSA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777240" y="3154680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50" dirty="0">
                <a:solidFill>
                  <a:srgbClr val="DCE7F4"/>
                </a:solidFill>
              </a:rPr>
              <a:t>Il “killer silenzioso”: cosa significa davvero, come si misura, perché conta e dove si vince la partita clinica.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777240" y="60350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7C6DA"/>
                </a:solidFill>
              </a:rPr>
              <a:t>Deck sintetico • 8 slide • stile visuale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Perché conta così tanto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Numeri globali e motivo per cui resta spesso invisibile finché non fa danni.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58368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1F2"/>
          </a:solidFill>
          <a:ln w="12700">
            <a:solidFill>
              <a:srgbClr val="FFF1F2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822960" y="152704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1,4 mld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1947672"/>
            <a:ext cx="2075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adulti 30–79 anni con ipertensione nel 2024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82112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ECFEFF"/>
          </a:solidFill>
          <a:ln w="12700">
            <a:solidFill>
              <a:srgbClr val="ECFEFF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3346704" y="152704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44%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3346704" y="1947672"/>
            <a:ext cx="2075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non sa di averla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05856" y="1417320"/>
            <a:ext cx="2331720" cy="1371600"/>
          </a:xfrm>
          <a:prstGeom prst="roundRect">
            <a:avLst>
              <a:gd name="adj" fmla="val 8000"/>
            </a:avLst>
          </a:prstGeom>
          <a:solidFill>
            <a:srgbClr val="FFF7ED"/>
          </a:solidFill>
          <a:ln w="12700">
            <a:solidFill>
              <a:srgbClr val="FFF7ED"/>
            </a:solidFill>
            <a:prstDash val="solid"/>
          </a:ln>
          <a:effectLst>
            <a:outerShdw blurRad="12700" dist="6350" dir="2700000" algn="bl" rotWithShape="0">
              <a:srgbClr val="000000">
                <a:alpha val="14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1" name="Text 9"/>
          <p:cNvSpPr/>
          <p:nvPr/>
        </p:nvSpPr>
        <p:spPr>
          <a:xfrm>
            <a:off x="5870448" y="1527048"/>
            <a:ext cx="20025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0F172A"/>
                </a:solidFill>
              </a:rPr>
              <a:t>23%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870448" y="1947672"/>
            <a:ext cx="2075688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75569"/>
                </a:solidFill>
              </a:rPr>
              <a:t>ha la pressione sotto controllo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412480" y="1280160"/>
            <a:ext cx="3108960" cy="4526280"/>
          </a:xfrm>
          <a:prstGeom prst="roundRect">
            <a:avLst>
              <a:gd name="adj" fmla="val 4118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732520" y="164592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Perché la chiamano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“killer silenzioso”</a:t>
            </a:r>
            <a:endParaRPr lang="en-US" sz="2400" dirty="0"/>
          </a:p>
        </p:txBody>
      </p:sp>
      <p:sp>
        <p:nvSpPr>
          <p:cNvPr id="15" name="Shape 13"/>
          <p:cNvSpPr/>
          <p:nvPr/>
        </p:nvSpPr>
        <p:spPr>
          <a:xfrm>
            <a:off x="8778240" y="292608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9034272" y="288036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</a:rPr>
              <a:t>Spesso non dà sintomi evidenti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8778240" y="352044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9034272" y="347472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</a:rPr>
              <a:t>La diagnosi arriva tardi o per caso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778240" y="411480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9034272" y="4069080"/>
            <a:ext cx="20299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E2E8F0"/>
                </a:solidFill>
              </a:rPr>
              <a:t>Danneggia cuore, cervello, reni e retina nel tempo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713232" y="3246120"/>
            <a:ext cx="722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</a:rPr>
              <a:t>Messaggio chiave: non serve “sentirsi male” per essere a rischio.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822960" y="388620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1"/>
          <p:cNvSpPr/>
          <p:nvPr/>
        </p:nvSpPr>
        <p:spPr>
          <a:xfrm>
            <a:off x="1078992" y="3840480"/>
            <a:ext cx="6876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Molti pazienti hanno valori elevati per anni senza saperlo.</a:t>
            </a:r>
            <a:endParaRPr lang="en-US" sz="1530" dirty="0"/>
          </a:p>
        </p:txBody>
      </p:sp>
      <p:sp>
        <p:nvSpPr>
          <p:cNvPr id="24" name="Shape 22"/>
          <p:cNvSpPr/>
          <p:nvPr/>
        </p:nvSpPr>
        <p:spPr>
          <a:xfrm>
            <a:off x="822960" y="438912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3"/>
          <p:cNvSpPr/>
          <p:nvPr/>
        </p:nvSpPr>
        <p:spPr>
          <a:xfrm>
            <a:off x="1078992" y="4343400"/>
            <a:ext cx="6876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Lo screening semplice resta una delle armi più efficaci.</a:t>
            </a:r>
            <a:endParaRPr lang="en-US" sz="1530" dirty="0"/>
          </a:p>
        </p:txBody>
      </p:sp>
      <p:sp>
        <p:nvSpPr>
          <p:cNvPr id="26" name="Shape 24"/>
          <p:cNvSpPr/>
          <p:nvPr/>
        </p:nvSpPr>
        <p:spPr>
          <a:xfrm>
            <a:off x="822960" y="489204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7" name="Text 25"/>
          <p:cNvSpPr/>
          <p:nvPr/>
        </p:nvSpPr>
        <p:spPr>
          <a:xfrm>
            <a:off x="1078992" y="4846320"/>
            <a:ext cx="6876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Il carico di malattia è soprattutto cardiovascolare e renale.</a:t>
            </a:r>
            <a:endParaRPr lang="en-US" sz="153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Come leggere i numeri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Le soglie cambiano in base al contesto; qui uso il framework ESC 2024.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685800" y="1417320"/>
            <a:ext cx="10972800" cy="960120"/>
          </a:xfrm>
          <a:prstGeom prst="roundRect">
            <a:avLst>
              <a:gd name="adj" fmla="val 13333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Shape 3"/>
          <p:cNvSpPr/>
          <p:nvPr/>
        </p:nvSpPr>
        <p:spPr>
          <a:xfrm>
            <a:off x="868680" y="160020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4"/>
          <p:cNvSpPr/>
          <p:nvPr/>
        </p:nvSpPr>
        <p:spPr>
          <a:xfrm>
            <a:off x="1033272" y="1737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Non elevata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697480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&lt;120 / &lt;70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86968" y="2487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Valori bassi di rischio cardiovascolare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80560" y="160020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4645152" y="1737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Elevata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09360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120–139 o 70–89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498848" y="2487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Zona intermedia: non banale, da rivalutare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92440" y="1600200"/>
            <a:ext cx="3383280" cy="603504"/>
          </a:xfrm>
          <a:prstGeom prst="roundRect">
            <a:avLst>
              <a:gd name="adj" fmla="val 15152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8257032" y="1737360"/>
            <a:ext cx="1463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Ipertensione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921240" y="1737360"/>
            <a:ext cx="12344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FFFFFF"/>
                </a:solidFill>
              </a:rPr>
              <a:t>≥140 o ≥90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10728" y="2487168"/>
            <a:ext cx="3200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75569"/>
                </a:solidFill>
              </a:rPr>
              <a:t>Diagnosi da confermare con misure corrette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77240" y="3154680"/>
            <a:ext cx="4892040" cy="2423160"/>
          </a:xfrm>
          <a:prstGeom prst="roundRect">
            <a:avLst>
              <a:gd name="adj" fmla="val 5283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F172A"/>
                </a:solidFill>
              </a:rPr>
              <a:t>La misura fatta bene vale oro</a:t>
            </a:r>
            <a:endParaRPr lang="en-US" sz="2000" dirty="0"/>
          </a:p>
        </p:txBody>
      </p:sp>
      <p:sp>
        <p:nvSpPr>
          <p:cNvPr id="19" name="Shape 17"/>
          <p:cNvSpPr/>
          <p:nvPr/>
        </p:nvSpPr>
        <p:spPr>
          <a:xfrm>
            <a:off x="1005840" y="402336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1261872" y="3977640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Paziente a riposo e braccio all’altezza del cuore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1005840" y="452628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1261872" y="4480560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Serve conferma su giorni diversi o con misurazioni fuori ambulatorio</a:t>
            </a:r>
            <a:endParaRPr lang="en-US" sz="1450" dirty="0"/>
          </a:p>
        </p:txBody>
      </p:sp>
      <p:sp>
        <p:nvSpPr>
          <p:cNvPr id="23" name="Shape 21"/>
          <p:cNvSpPr/>
          <p:nvPr/>
        </p:nvSpPr>
        <p:spPr>
          <a:xfrm>
            <a:off x="1005840" y="502920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1261872" y="4983480"/>
            <a:ext cx="40873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0F172A"/>
                </a:solidFill>
              </a:rPr>
              <a:t>L’out-of-office BP è preferibile quando fattibile</a:t>
            </a:r>
            <a:endParaRPr lang="en-US" sz="1450" dirty="0"/>
          </a:p>
        </p:txBody>
      </p:sp>
      <p:sp>
        <p:nvSpPr>
          <p:cNvPr id="25" name="Shape 23"/>
          <p:cNvSpPr/>
          <p:nvPr/>
        </p:nvSpPr>
        <p:spPr>
          <a:xfrm>
            <a:off x="5943600" y="3154680"/>
            <a:ext cx="5440680" cy="2423160"/>
          </a:xfrm>
          <a:prstGeom prst="roundRect">
            <a:avLst>
              <a:gd name="adj" fmla="val 5283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6" name="Text 24"/>
          <p:cNvSpPr/>
          <p:nvPr/>
        </p:nvSpPr>
        <p:spPr>
          <a:xfrm>
            <a:off x="6236208" y="3456432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Traduzione pratica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6254496" y="397764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2E8F0"/>
                </a:solidFill>
              </a:rPr>
              <a:t>Non ragionare solo su una cifra isolata: rischio cardiovascolare, conferma diagnostica e qualità della misurazione contano quanto il numero.</a:t>
            </a:r>
            <a:endParaRPr lang="en-US" sz="1600" dirty="0"/>
          </a:p>
        </p:txBody>
      </p:sp>
      <p:sp>
        <p:nvSpPr>
          <p:cNvPr id="2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 è più a rischio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Età e familiarità contano, ma il pezzo grosso è nei fattori modificabili.</a:t>
            </a:r>
            <a:endParaRPr lang="en-US" sz="1250" dirty="0"/>
          </a:p>
        </p:txBody>
      </p:sp>
      <p:pic>
        <p:nvPicPr>
          <p:cNvPr id="4" name="Image 0" descr="/mnt/data/bp_measurement.jpg"/>
          <p:cNvPicPr>
            <a:picLocks noChangeAspect="1"/>
          </p:cNvPicPr>
          <p:nvPr/>
        </p:nvPicPr>
        <p:blipFill>
          <a:blip r:embed="rId3"/>
          <a:srcRect l="26624" r="26624"/>
          <a:stretch/>
        </p:blipFill>
        <p:spPr>
          <a:xfrm>
            <a:off x="8183880" y="1143000"/>
            <a:ext cx="3429000" cy="48920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28016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4160520" y="1280160"/>
            <a:ext cx="32461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960120" y="16002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11D48"/>
                </a:solidFill>
              </a:rPr>
              <a:t>Modificabili</a:t>
            </a:r>
            <a:endParaRPr lang="en-US" sz="2000" dirty="0"/>
          </a:p>
        </p:txBody>
      </p:sp>
      <p:sp>
        <p:nvSpPr>
          <p:cNvPr id="8" name="Shape 5"/>
          <p:cNvSpPr/>
          <p:nvPr/>
        </p:nvSpPr>
        <p:spPr>
          <a:xfrm>
            <a:off x="969264" y="196596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 6"/>
          <p:cNvSpPr/>
          <p:nvPr/>
        </p:nvSpPr>
        <p:spPr>
          <a:xfrm>
            <a:off x="1225296" y="1920240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</a:rPr>
              <a:t>Sovrappeso / obesità</a:t>
            </a:r>
            <a:endParaRPr lang="en-US" sz="1420" dirty="0"/>
          </a:p>
        </p:txBody>
      </p:sp>
      <p:sp>
        <p:nvSpPr>
          <p:cNvPr id="10" name="Shape 7"/>
          <p:cNvSpPr/>
          <p:nvPr/>
        </p:nvSpPr>
        <p:spPr>
          <a:xfrm>
            <a:off x="969264" y="2276856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Text 8"/>
          <p:cNvSpPr/>
          <p:nvPr/>
        </p:nvSpPr>
        <p:spPr>
          <a:xfrm>
            <a:off x="1225296" y="2231136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</a:rPr>
              <a:t>Sedentarietà</a:t>
            </a:r>
            <a:endParaRPr lang="en-US" sz="1420" dirty="0"/>
          </a:p>
        </p:txBody>
      </p:sp>
      <p:sp>
        <p:nvSpPr>
          <p:cNvPr id="12" name="Shape 9"/>
          <p:cNvSpPr/>
          <p:nvPr/>
        </p:nvSpPr>
        <p:spPr>
          <a:xfrm>
            <a:off x="969264" y="2587752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1225296" y="2542032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</a:rPr>
              <a:t>Troppo sale</a:t>
            </a:r>
            <a:endParaRPr lang="en-US" sz="1420" dirty="0"/>
          </a:p>
        </p:txBody>
      </p:sp>
      <p:sp>
        <p:nvSpPr>
          <p:cNvPr id="14" name="Shape 11"/>
          <p:cNvSpPr/>
          <p:nvPr/>
        </p:nvSpPr>
        <p:spPr>
          <a:xfrm>
            <a:off x="969264" y="2898648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Text 12"/>
          <p:cNvSpPr/>
          <p:nvPr/>
        </p:nvSpPr>
        <p:spPr>
          <a:xfrm>
            <a:off x="1225296" y="2852928"/>
            <a:ext cx="230428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20" dirty="0">
                <a:solidFill>
                  <a:srgbClr val="0F172A"/>
                </a:solidFill>
              </a:rPr>
              <a:t>Alcol e fumo</a:t>
            </a:r>
            <a:endParaRPr lang="en-US" sz="1420" dirty="0"/>
          </a:p>
        </p:txBody>
      </p:sp>
      <p:sp>
        <p:nvSpPr>
          <p:cNvPr id="16" name="Text 13"/>
          <p:cNvSpPr/>
          <p:nvPr/>
        </p:nvSpPr>
        <p:spPr>
          <a:xfrm>
            <a:off x="4389120" y="160020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6B6D4"/>
                </a:solidFill>
              </a:rPr>
              <a:t>Non modificabili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398264" y="1965960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5"/>
          <p:cNvSpPr/>
          <p:nvPr/>
        </p:nvSpPr>
        <p:spPr>
          <a:xfrm>
            <a:off x="4654296" y="192024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Età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398264" y="2331720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7"/>
          <p:cNvSpPr/>
          <p:nvPr/>
        </p:nvSpPr>
        <p:spPr>
          <a:xfrm>
            <a:off x="4654296" y="228600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Genetica / familiarità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398264" y="2697480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19"/>
          <p:cNvSpPr/>
          <p:nvPr/>
        </p:nvSpPr>
        <p:spPr>
          <a:xfrm>
            <a:off x="4654296" y="2651760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0F172A"/>
                </a:solidFill>
              </a:rPr>
              <a:t>Malattia renale o diabete come contesto di rischio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77240" y="3840480"/>
            <a:ext cx="2377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Da non dimenticare</a:t>
            </a:r>
            <a:endParaRPr lang="en-US" sz="2200" dirty="0"/>
          </a:p>
        </p:txBody>
      </p:sp>
      <p:sp>
        <p:nvSpPr>
          <p:cNvPr id="24" name="Text 21"/>
          <p:cNvSpPr/>
          <p:nvPr/>
        </p:nvSpPr>
        <p:spPr>
          <a:xfrm>
            <a:off x="786384" y="4251960"/>
            <a:ext cx="6400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475569"/>
                </a:solidFill>
              </a:rPr>
              <a:t>L’ipertensione può presentarsi anche senza sintomi: per questo la logica giusta è “screening + stile di vita + aderenza”, non aspettare il campanello d’allarme.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8275320" y="5257800"/>
            <a:ext cx="2057400" cy="292608"/>
          </a:xfrm>
          <a:prstGeom prst="rect">
            <a:avLst/>
          </a:prstGeom>
          <a:solidFill>
            <a:srgbClr val="E11D48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Screening regolare</a:t>
            </a:r>
            <a:endParaRPr lang="en-US" sz="110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Sintomi: quasi mai, finché non diventano seri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La regola è semplice: assenza di sintomi non significa assenza di rischio.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731520" y="1417320"/>
            <a:ext cx="4754880" cy="4526280"/>
          </a:xfrm>
          <a:prstGeom prst="roundRect">
            <a:avLst>
              <a:gd name="adj" fmla="val 2828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 3"/>
          <p:cNvSpPr/>
          <p:nvPr/>
        </p:nvSpPr>
        <p:spPr>
          <a:xfrm>
            <a:off x="1005840" y="173736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La forma “classica”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05840" y="214884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dirty="0">
                <a:solidFill>
                  <a:srgbClr val="D6E1F0"/>
                </a:solidFill>
              </a:rPr>
              <a:t>Molti pazienti non percepiscono nulla di specifico.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261872" y="2788920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A"/>
                </a:solidFill>
              </a:rPr>
              <a:t>Scoperta casuale a visita o in farmacia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3401568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8"/>
          <p:cNvSpPr/>
          <p:nvPr/>
        </p:nvSpPr>
        <p:spPr>
          <a:xfrm>
            <a:off x="1261872" y="3355848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A"/>
                </a:solidFill>
              </a:rPr>
              <a:t>Valori elevati ripetuti senza disturbi marcati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005840" y="3968496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261872" y="3922776"/>
            <a:ext cx="3584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2FA"/>
                </a:solidFill>
              </a:rPr>
              <a:t>Danno d’organo già in evoluzione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5806440" y="1417320"/>
            <a:ext cx="5532120" cy="4526280"/>
          </a:xfrm>
          <a:prstGeom prst="roundRect">
            <a:avLst>
              <a:gd name="adj" fmla="val 2828"/>
            </a:avLst>
          </a:prstGeom>
          <a:solidFill>
            <a:srgbClr val="FFF1F2"/>
          </a:solidFill>
          <a:ln w="12700">
            <a:solidFill>
              <a:srgbClr val="FBCFE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2"/>
          <p:cNvSpPr/>
          <p:nvPr/>
        </p:nvSpPr>
        <p:spPr>
          <a:xfrm>
            <a:off x="6144768" y="175564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11D48"/>
                </a:solidFill>
              </a:rPr>
              <a:t>Quando preoccuparsi subito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6144768" y="2377440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6400800" y="2331720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Cefalea intensa</a:t>
            </a:r>
            <a:endParaRPr lang="en-US" sz="1700" dirty="0"/>
          </a:p>
        </p:txBody>
      </p:sp>
      <p:sp>
        <p:nvSpPr>
          <p:cNvPr id="17" name="Shape 15"/>
          <p:cNvSpPr/>
          <p:nvPr/>
        </p:nvSpPr>
        <p:spPr>
          <a:xfrm>
            <a:off x="6144768" y="2871216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8" name="Text 16"/>
          <p:cNvSpPr/>
          <p:nvPr/>
        </p:nvSpPr>
        <p:spPr>
          <a:xfrm>
            <a:off x="6400800" y="2825496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Dolore toracico</a:t>
            </a:r>
            <a:endParaRPr lang="en-US" sz="1700" dirty="0"/>
          </a:p>
        </p:txBody>
      </p:sp>
      <p:sp>
        <p:nvSpPr>
          <p:cNvPr id="19" name="Shape 17"/>
          <p:cNvSpPr/>
          <p:nvPr/>
        </p:nvSpPr>
        <p:spPr>
          <a:xfrm>
            <a:off x="6144768" y="3364992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0" name="Text 18"/>
          <p:cNvSpPr/>
          <p:nvPr/>
        </p:nvSpPr>
        <p:spPr>
          <a:xfrm>
            <a:off x="6400800" y="3319272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Dispnea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6144768" y="3858768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2" name="Text 20"/>
          <p:cNvSpPr/>
          <p:nvPr/>
        </p:nvSpPr>
        <p:spPr>
          <a:xfrm>
            <a:off x="6400800" y="3813048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Visione offuscata</a:t>
            </a:r>
            <a:endParaRPr lang="en-US" sz="1700" dirty="0"/>
          </a:p>
        </p:txBody>
      </p:sp>
      <p:sp>
        <p:nvSpPr>
          <p:cNvPr id="23" name="Shape 21"/>
          <p:cNvSpPr/>
          <p:nvPr/>
        </p:nvSpPr>
        <p:spPr>
          <a:xfrm>
            <a:off x="6144768" y="4352544"/>
            <a:ext cx="155448" cy="1554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4" name="Text 22"/>
          <p:cNvSpPr/>
          <p:nvPr/>
        </p:nvSpPr>
        <p:spPr>
          <a:xfrm>
            <a:off x="6400800" y="4306824"/>
            <a:ext cx="39502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0F172A"/>
                </a:solidFill>
              </a:rPr>
              <a:t>Confusione, nausea, aritmie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6144768" y="5166360"/>
            <a:ext cx="4526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72A"/>
                </a:solidFill>
              </a:rPr>
              <a:t>Pressioni molto alte (≈ 180/120 o oltre) + sintomi = valutazione urgente.</a:t>
            </a:r>
            <a:endParaRPr lang="en-US" sz="14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Dove colpisce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L’ipertensione non è “solo un numero”: è danno d’organo progressivo.</a:t>
            </a:r>
            <a:endParaRPr lang="en-US" sz="1250" dirty="0"/>
          </a:p>
        </p:txBody>
      </p:sp>
      <p:pic>
        <p:nvPicPr>
          <p:cNvPr id="4" name="Image 0" descr="/mnt/data/hypertension_complication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216974"/>
            <a:ext cx="4572000" cy="320129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0" y="1417320"/>
            <a:ext cx="5897880" cy="4663440"/>
          </a:xfrm>
          <a:prstGeom prst="roundRect">
            <a:avLst>
              <a:gd name="adj" fmla="val 274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" dist="508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it-IT"/>
          </a:p>
        </p:txBody>
      </p:sp>
      <p:sp>
        <p:nvSpPr>
          <p:cNvPr id="6" name="Shape 3"/>
          <p:cNvSpPr/>
          <p:nvPr/>
        </p:nvSpPr>
        <p:spPr>
          <a:xfrm>
            <a:off x="5806440" y="1847088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Text 4"/>
          <p:cNvSpPr/>
          <p:nvPr/>
        </p:nvSpPr>
        <p:spPr>
          <a:xfrm>
            <a:off x="5971032" y="197510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Cuore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269480" y="19293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scompenso, infarto, ipertrofia ventricolare</a:t>
            </a:r>
            <a:endParaRPr lang="en-US" sz="1530" dirty="0"/>
          </a:p>
        </p:txBody>
      </p:sp>
      <p:sp>
        <p:nvSpPr>
          <p:cNvPr id="9" name="Shape 6"/>
          <p:cNvSpPr/>
          <p:nvPr/>
        </p:nvSpPr>
        <p:spPr>
          <a:xfrm>
            <a:off x="5806440" y="2761488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5971032" y="288950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Cervello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7269480" y="28437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ictus, decadimento cognitivo</a:t>
            </a:r>
            <a:endParaRPr lang="en-US" sz="1530" dirty="0"/>
          </a:p>
        </p:txBody>
      </p:sp>
      <p:sp>
        <p:nvSpPr>
          <p:cNvPr id="12" name="Shape 9"/>
          <p:cNvSpPr/>
          <p:nvPr/>
        </p:nvSpPr>
        <p:spPr>
          <a:xfrm>
            <a:off x="5806440" y="3675888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3" name="Text 10"/>
          <p:cNvSpPr/>
          <p:nvPr/>
        </p:nvSpPr>
        <p:spPr>
          <a:xfrm>
            <a:off x="5971032" y="380390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Rene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269480" y="37581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malattia renale cronica / insufficienza</a:t>
            </a:r>
            <a:endParaRPr lang="en-US" sz="1530" dirty="0"/>
          </a:p>
        </p:txBody>
      </p:sp>
      <p:sp>
        <p:nvSpPr>
          <p:cNvPr id="15" name="Shape 12"/>
          <p:cNvSpPr/>
          <p:nvPr/>
        </p:nvSpPr>
        <p:spPr>
          <a:xfrm>
            <a:off x="5806440" y="4590288"/>
            <a:ext cx="1280160" cy="475488"/>
          </a:xfrm>
          <a:prstGeom prst="roundRect">
            <a:avLst>
              <a:gd name="adj" fmla="val 15385"/>
            </a:avLst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5971032" y="4718304"/>
            <a:ext cx="91440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Occhio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7269480" y="4672584"/>
            <a:ext cx="3703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30" dirty="0">
                <a:solidFill>
                  <a:srgbClr val="0F172A"/>
                </a:solidFill>
              </a:rPr>
              <a:t>retinopatia e perdita visiva</a:t>
            </a:r>
            <a:endParaRPr lang="en-US" sz="1530" dirty="0"/>
          </a:p>
        </p:txBody>
      </p:sp>
      <p:sp>
        <p:nvSpPr>
          <p:cNvPr id="18" name="Text 15"/>
          <p:cNvSpPr/>
          <p:nvPr/>
        </p:nvSpPr>
        <p:spPr>
          <a:xfrm>
            <a:off x="5806440" y="5440680"/>
            <a:ext cx="4983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70" b="1" dirty="0">
                <a:solidFill>
                  <a:srgbClr val="475569"/>
                </a:solidFill>
              </a:rPr>
              <a:t>In pratica: meno numerologia, più prevenzione del danno cumulativo.</a:t>
            </a:r>
            <a:endParaRPr lang="en-US" sz="147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Terapia: si vince con due leve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658368" y="896112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475569"/>
                </a:solidFill>
              </a:rPr>
              <a:t>Stile di vita prima, farmaci quando servono: non è una gara tra i due.</a:t>
            </a:r>
            <a:endParaRPr lang="en-US" sz="1250" dirty="0"/>
          </a:p>
        </p:txBody>
      </p:sp>
      <p:pic>
        <p:nvPicPr>
          <p:cNvPr id="4" name="Image 0" descr="/mnt/data/hypertension_lifestyle.jpg"/>
          <p:cNvPicPr>
            <a:picLocks noChangeAspect="1"/>
          </p:cNvPicPr>
          <p:nvPr/>
        </p:nvPicPr>
        <p:blipFill>
          <a:blip r:embed="rId3"/>
          <a:srcRect l="18716" r="18716"/>
          <a:stretch/>
        </p:blipFill>
        <p:spPr>
          <a:xfrm>
            <a:off x="6812280" y="1234440"/>
            <a:ext cx="4846320" cy="51663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31520" y="1325880"/>
            <a:ext cx="5623560" cy="4892040"/>
          </a:xfrm>
          <a:prstGeom prst="roundRect">
            <a:avLst>
              <a:gd name="adj" fmla="val 2617"/>
            </a:avLst>
          </a:prstGeom>
          <a:solidFill>
            <a:srgbClr val="13233D"/>
          </a:solidFill>
          <a:ln w="12700">
            <a:solidFill>
              <a:srgbClr val="13233D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6" name="Text 3"/>
          <p:cNvSpPr/>
          <p:nvPr/>
        </p:nvSpPr>
        <p:spPr>
          <a:xfrm>
            <a:off x="1051560" y="1691640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1) Stile di vita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1051560" y="219456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5"/>
          <p:cNvSpPr/>
          <p:nvPr/>
        </p:nvSpPr>
        <p:spPr>
          <a:xfrm>
            <a:off x="1307592" y="2148840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DF4FF"/>
                </a:solidFill>
              </a:rPr>
              <a:t>Ridurre il sale</a:t>
            </a:r>
            <a:endParaRPr lang="en-US" sz="1630" dirty="0"/>
          </a:p>
        </p:txBody>
      </p:sp>
      <p:sp>
        <p:nvSpPr>
          <p:cNvPr id="9" name="Shape 6"/>
          <p:cNvSpPr/>
          <p:nvPr/>
        </p:nvSpPr>
        <p:spPr>
          <a:xfrm>
            <a:off x="1051560" y="269748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0" name="Text 7"/>
          <p:cNvSpPr/>
          <p:nvPr/>
        </p:nvSpPr>
        <p:spPr>
          <a:xfrm>
            <a:off x="1307592" y="2651760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DF4FF"/>
                </a:solidFill>
              </a:rPr>
              <a:t>Perdere peso se necessario</a:t>
            </a:r>
            <a:endParaRPr lang="en-US" sz="1630" dirty="0"/>
          </a:p>
        </p:txBody>
      </p:sp>
      <p:sp>
        <p:nvSpPr>
          <p:cNvPr id="11" name="Shape 8"/>
          <p:cNvSpPr/>
          <p:nvPr/>
        </p:nvSpPr>
        <p:spPr>
          <a:xfrm>
            <a:off x="1051560" y="320040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9"/>
          <p:cNvSpPr/>
          <p:nvPr/>
        </p:nvSpPr>
        <p:spPr>
          <a:xfrm>
            <a:off x="1307592" y="3154680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DF4FF"/>
                </a:solidFill>
              </a:rPr>
              <a:t>Muoversi con regolarità</a:t>
            </a:r>
            <a:endParaRPr lang="en-US" sz="1630" dirty="0"/>
          </a:p>
        </p:txBody>
      </p:sp>
      <p:sp>
        <p:nvSpPr>
          <p:cNvPr id="13" name="Shape 10"/>
          <p:cNvSpPr/>
          <p:nvPr/>
        </p:nvSpPr>
        <p:spPr>
          <a:xfrm>
            <a:off x="1051560" y="370332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4" name="Text 11"/>
          <p:cNvSpPr/>
          <p:nvPr/>
        </p:nvSpPr>
        <p:spPr>
          <a:xfrm>
            <a:off x="1307592" y="3657600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DF4FF"/>
                </a:solidFill>
              </a:rPr>
              <a:t>Smettere di fumare</a:t>
            </a:r>
            <a:endParaRPr lang="en-US" sz="1630" dirty="0"/>
          </a:p>
        </p:txBody>
      </p:sp>
      <p:sp>
        <p:nvSpPr>
          <p:cNvPr id="15" name="Shape 12"/>
          <p:cNvSpPr/>
          <p:nvPr/>
        </p:nvSpPr>
        <p:spPr>
          <a:xfrm>
            <a:off x="1051560" y="4206240"/>
            <a:ext cx="155448" cy="155448"/>
          </a:xfrm>
          <a:prstGeom prst="ellipse">
            <a:avLst/>
          </a:prstGeom>
          <a:solidFill>
            <a:srgbClr val="FB7185"/>
          </a:solidFill>
          <a:ln w="12700">
            <a:solidFill>
              <a:srgbClr val="FB7185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3"/>
          <p:cNvSpPr/>
          <p:nvPr/>
        </p:nvSpPr>
        <p:spPr>
          <a:xfrm>
            <a:off x="1307592" y="4160520"/>
            <a:ext cx="244144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30" dirty="0">
                <a:solidFill>
                  <a:srgbClr val="EDF4FF"/>
                </a:solidFill>
              </a:rPr>
              <a:t>Moderare l’alcol</a:t>
            </a:r>
            <a:endParaRPr lang="en-US" sz="1630" dirty="0"/>
          </a:p>
        </p:txBody>
      </p:sp>
      <p:sp>
        <p:nvSpPr>
          <p:cNvPr id="17" name="Text 14"/>
          <p:cNvSpPr/>
          <p:nvPr/>
        </p:nvSpPr>
        <p:spPr>
          <a:xfrm>
            <a:off x="3794760" y="169164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6B6D4"/>
                </a:solidFill>
              </a:rPr>
              <a:t>2) Farmaci</a:t>
            </a:r>
            <a:endParaRPr lang="en-US" sz="2200" dirty="0"/>
          </a:p>
        </p:txBody>
      </p:sp>
      <p:sp>
        <p:nvSpPr>
          <p:cNvPr id="18" name="Shape 15"/>
          <p:cNvSpPr/>
          <p:nvPr/>
        </p:nvSpPr>
        <p:spPr>
          <a:xfrm>
            <a:off x="3794760" y="2194560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9" name="Text 16"/>
          <p:cNvSpPr/>
          <p:nvPr/>
        </p:nvSpPr>
        <p:spPr>
          <a:xfrm>
            <a:off x="4050792" y="2148840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D7E7FB"/>
                </a:solidFill>
              </a:rPr>
              <a:t>ACE-inibitori / ARB</a:t>
            </a:r>
            <a:endParaRPr lang="en-US" sz="1520" dirty="0"/>
          </a:p>
        </p:txBody>
      </p:sp>
      <p:sp>
        <p:nvSpPr>
          <p:cNvPr id="20" name="Shape 17"/>
          <p:cNvSpPr/>
          <p:nvPr/>
        </p:nvSpPr>
        <p:spPr>
          <a:xfrm>
            <a:off x="3794760" y="2706624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1" name="Text 18"/>
          <p:cNvSpPr/>
          <p:nvPr/>
        </p:nvSpPr>
        <p:spPr>
          <a:xfrm>
            <a:off x="4050792" y="2660904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D7E7FB"/>
                </a:solidFill>
              </a:rPr>
              <a:t>Calcio-antagonisti</a:t>
            </a:r>
            <a:endParaRPr lang="en-US" sz="1520" dirty="0"/>
          </a:p>
        </p:txBody>
      </p:sp>
      <p:sp>
        <p:nvSpPr>
          <p:cNvPr id="22" name="Shape 19"/>
          <p:cNvSpPr/>
          <p:nvPr/>
        </p:nvSpPr>
        <p:spPr>
          <a:xfrm>
            <a:off x="3794760" y="3218688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3" name="Text 20"/>
          <p:cNvSpPr/>
          <p:nvPr/>
        </p:nvSpPr>
        <p:spPr>
          <a:xfrm>
            <a:off x="4050792" y="3172968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D7E7FB"/>
                </a:solidFill>
              </a:rPr>
              <a:t>Diuretici</a:t>
            </a:r>
            <a:endParaRPr lang="en-US" sz="1520" dirty="0"/>
          </a:p>
        </p:txBody>
      </p:sp>
      <p:sp>
        <p:nvSpPr>
          <p:cNvPr id="24" name="Shape 21"/>
          <p:cNvSpPr/>
          <p:nvPr/>
        </p:nvSpPr>
        <p:spPr>
          <a:xfrm>
            <a:off x="3794760" y="3730752"/>
            <a:ext cx="155448" cy="1554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25" name="Text 22"/>
          <p:cNvSpPr/>
          <p:nvPr/>
        </p:nvSpPr>
        <p:spPr>
          <a:xfrm>
            <a:off x="4050792" y="3685032"/>
            <a:ext cx="18928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20" dirty="0">
                <a:solidFill>
                  <a:srgbClr val="D7E7FB"/>
                </a:solidFill>
              </a:rPr>
              <a:t>Target pressorio personalizzato</a:t>
            </a:r>
            <a:endParaRPr lang="en-US" sz="1520" dirty="0"/>
          </a:p>
        </p:txBody>
      </p:sp>
      <p:sp>
        <p:nvSpPr>
          <p:cNvPr id="26" name="Text 23"/>
          <p:cNvSpPr/>
          <p:nvPr/>
        </p:nvSpPr>
        <p:spPr>
          <a:xfrm>
            <a:off x="1051560" y="5440680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60" b="1" dirty="0">
                <a:solidFill>
                  <a:srgbClr val="DCE7F4"/>
                </a:solidFill>
              </a:rPr>
              <a:t>La cosa brutale ma vera: il farmaco funziona solo se il paziente lo prende davvero.</a:t>
            </a:r>
            <a:endParaRPr lang="en-US" sz="1460" dirty="0"/>
          </a:p>
        </p:txBody>
      </p:sp>
      <p:sp>
        <p:nvSpPr>
          <p:cNvPr id="2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 1"/>
          <p:cNvSpPr/>
          <p:nvPr/>
        </p:nvSpPr>
        <p:spPr>
          <a:xfrm>
            <a:off x="749808" y="86868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B7185"/>
                </a:solidFill>
              </a:rPr>
              <a:t>IN TRE MOSSE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49808" y="1234440"/>
            <a:ext cx="40233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Misura.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Conferma.</a:t>
            </a:r>
            <a:endParaRPr lang="en-US" sz="2800" dirty="0"/>
          </a:p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Tratta.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77240" y="27432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D6E1F0"/>
                </a:solidFill>
              </a:rPr>
              <a:t>Se vuoi fare bella figura in clinica, questa è la sintesi giusta: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04672" y="3383280"/>
            <a:ext cx="49377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7" name="Shape 5"/>
          <p:cNvSpPr/>
          <p:nvPr/>
        </p:nvSpPr>
        <p:spPr>
          <a:xfrm>
            <a:off x="987552" y="3493008"/>
            <a:ext cx="384048" cy="384048"/>
          </a:xfrm>
          <a:prstGeom prst="ellipse">
            <a:avLst/>
          </a:prstGeom>
          <a:solidFill>
            <a:srgbClr val="E11D48"/>
          </a:solidFill>
          <a:ln w="12700">
            <a:solidFill>
              <a:srgbClr val="E11D48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8" name="Text 6"/>
          <p:cNvSpPr/>
          <p:nvPr/>
        </p:nvSpPr>
        <p:spPr>
          <a:xfrm>
            <a:off x="1106424" y="358902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508760" y="355701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FFFFFF"/>
                </a:solidFill>
              </a:rPr>
              <a:t>Misurazione corretta e ripetuta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804672" y="4251960"/>
            <a:ext cx="49377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1" name="Shape 9"/>
          <p:cNvSpPr/>
          <p:nvPr/>
        </p:nvSpPr>
        <p:spPr>
          <a:xfrm>
            <a:off x="987552" y="4361688"/>
            <a:ext cx="384048" cy="384048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2" name="Text 10"/>
          <p:cNvSpPr/>
          <p:nvPr/>
        </p:nvSpPr>
        <p:spPr>
          <a:xfrm>
            <a:off x="1106424" y="445770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08760" y="442569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FFFFFF"/>
                </a:solidFill>
              </a:rPr>
              <a:t>Valuta rischio, danno d’organo e aderenza</a:t>
            </a:r>
            <a:endParaRPr lang="en-US" sz="1620" dirty="0"/>
          </a:p>
        </p:txBody>
      </p:sp>
      <p:sp>
        <p:nvSpPr>
          <p:cNvPr id="14" name="Shape 12"/>
          <p:cNvSpPr/>
          <p:nvPr/>
        </p:nvSpPr>
        <p:spPr>
          <a:xfrm>
            <a:off x="804672" y="5120640"/>
            <a:ext cx="4937760" cy="713232"/>
          </a:xfrm>
          <a:prstGeom prst="roundRect">
            <a:avLst>
              <a:gd name="adj" fmla="val 12821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5" name="Shape 13"/>
          <p:cNvSpPr/>
          <p:nvPr/>
        </p:nvSpPr>
        <p:spPr>
          <a:xfrm>
            <a:off x="987552" y="5230368"/>
            <a:ext cx="384048" cy="384048"/>
          </a:xfrm>
          <a:prstGeom prst="ellipse">
            <a:avLst/>
          </a:prstGeom>
          <a:solidFill>
            <a:srgbClr val="0EA5A4"/>
          </a:solidFill>
          <a:ln w="12700">
            <a:solidFill>
              <a:srgbClr val="0EA5A4"/>
            </a:solidFill>
            <a:prstDash val="solid"/>
          </a:ln>
        </p:spPr>
        <p:txBody>
          <a:bodyPr/>
          <a:lstStyle/>
          <a:p>
            <a:endParaRPr lang="it-IT"/>
          </a:p>
        </p:txBody>
      </p:sp>
      <p:sp>
        <p:nvSpPr>
          <p:cNvPr id="16" name="Text 14"/>
          <p:cNvSpPr/>
          <p:nvPr/>
        </p:nvSpPr>
        <p:spPr>
          <a:xfrm>
            <a:off x="1106424" y="5326380"/>
            <a:ext cx="146304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508760" y="5294376"/>
            <a:ext cx="37947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20" b="1" dirty="0">
                <a:solidFill>
                  <a:srgbClr val="FFFFFF"/>
                </a:solidFill>
              </a:rPr>
              <a:t>Combina stile di vita e terapia in modo realistico</a:t>
            </a:r>
            <a:endParaRPr lang="en-US" sz="1620" dirty="0"/>
          </a:p>
        </p:txBody>
      </p:sp>
      <p:sp>
        <p:nvSpPr>
          <p:cNvPr id="18" name="Text 16"/>
          <p:cNvSpPr/>
          <p:nvPr/>
        </p:nvSpPr>
        <p:spPr>
          <a:xfrm>
            <a:off x="6537960" y="1371600"/>
            <a:ext cx="44805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FFFFFF"/>
                </a:solidFill>
              </a:rPr>
              <a:t>Ipertensione: non spettacolare, ma devastante se ignorata.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6629400" y="2926080"/>
            <a:ext cx="4389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dirty="0">
                <a:solidFill>
                  <a:srgbClr val="FDE2E8"/>
                </a:solidFill>
              </a:rPr>
              <a:t>La slide finale da ricordare:</a:t>
            </a:r>
            <a:endParaRPr lang="en-US" sz="1800" dirty="0"/>
          </a:p>
          <a:p>
            <a:pPr marL="0" indent="0" algn="r">
              <a:buNone/>
            </a:pPr>
            <a:r>
              <a:rPr lang="en-US" sz="1800" dirty="0">
                <a:solidFill>
                  <a:srgbClr val="FDE2E8"/>
                </a:solidFill>
              </a:rPr>
              <a:t>meno fatalismo, più monitoraggio.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72600" y="5440680"/>
            <a:ext cx="1965960" cy="292608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txBody>
          <a:bodyPr wrap="square" lIns="508" tIns="508" rIns="508" bIns="508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11D48"/>
                </a:solidFill>
              </a:rPr>
              <a:t>Pressione sotto controllo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46520"/>
            <a:ext cx="411480" cy="18288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64748B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1107</Words>
  <Application>Microsoft Office PowerPoint</Application>
  <PresentationFormat>Widescreen</PresentationFormat>
  <Paragraphs>131</Paragraphs>
  <Slides>8</Slides>
  <Notes>8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Ipertensione arteriosa — guida visiva</dc:title>
  <dc:subject>Ipertensione arteriosa</dc:subject>
  <dc:creator>OpenAI</dc:creator>
  <cp:lastModifiedBy>Luigi Rescigno</cp:lastModifiedBy>
  <cp:revision>1</cp:revision>
  <dcterms:created xsi:type="dcterms:W3CDTF">2026-04-14T14:02:38Z</dcterms:created>
  <dcterms:modified xsi:type="dcterms:W3CDTF">2026-04-14T14:19:20Z</dcterms:modified>
</cp:coreProperties>
</file>